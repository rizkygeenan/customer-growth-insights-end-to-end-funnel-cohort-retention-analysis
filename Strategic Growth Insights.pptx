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us Jakarta Sans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ECFFD1-7418-4135-951E-8BEBCA013827}">
  <a:tblStyle styleId="{B6ECFFD1-7418-4135-951E-8BEBCA0138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d76343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ad763434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d763434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ad763434c_3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ad763434c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ad763434c_3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ad763434c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ad763434c_3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rive.google.com/file/d/1qGwPQOExuowKMi9B41biJdbDm70kFFrI/view?usp=drive_lin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qGwPQOExuowKMi9B41biJdbDm70kFFrI/view?usp=drive_link" TargetMode="External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352675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Growth Insights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809750" y="3876675"/>
            <a:ext cx="8572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Analisis Funnel &amp; Cohort Komprehensif untuk Startup Edukasi &amp; Optimalisasi Pertumbuhan Fintech</a:t>
            </a:r>
            <a:endParaRPr sz="16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Disusun oleh: Muhammad Rizky Ginanjar</a:t>
            </a:r>
            <a:endParaRPr sz="16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715000" y="2333625"/>
            <a:ext cx="762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95275" y="2562225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SzPts val="1100"/>
              <a:buNone/>
            </a:pPr>
            <a:r>
              <a:rPr b="1" lang="en-US" sz="4200">
                <a:solidFill>
                  <a:srgbClr val="005088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Business Case: Education Startup Funnel</a:t>
            </a:r>
            <a:endParaRPr b="1" sz="42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286000" y="4086225"/>
            <a:ext cx="7620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1500" marR="5715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50">
                <a:solidFill>
                  <a:srgbClr val="475569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Evaluating User Conversion Pathways from Initial Leads to Registered Users</a:t>
            </a:r>
            <a:endParaRPr sz="16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Education Startup Funnel Metrics</a:t>
            </a:r>
            <a:endParaRPr b="1" sz="285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571500" y="1800225"/>
            <a:ext cx="11049000" cy="3705225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571500" y="1800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{B6ECFFD1-7418-4135-951E-8BEBCA013827}</a:tableStyleId>
              </a:tblPr>
              <a:tblGrid>
                <a:gridCol w="3598225"/>
                <a:gridCol w="1439175"/>
                <a:gridCol w="2995175"/>
                <a:gridCol w="3016450"/>
              </a:tblGrid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Tahap Funnel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Total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Stage </a:t>
                      </a: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%</a:t>
                      </a:r>
                      <a:r>
                        <a:rPr lang="en-US" sz="135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of Previous</a:t>
                      </a: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(CVR)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Drop-off per </a:t>
                      </a:r>
                      <a:r>
                        <a:rPr lang="en-US" sz="135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630.338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100,0%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Bookings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417.400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66,2%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33,8%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Free Trials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261.630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62,7%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37,3%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Register New 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178.560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68,2%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31,8%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Conversion  (Leads →</a:t>
                      </a:r>
                      <a:r>
                        <a:rPr b="1" lang="en-US" sz="135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New User</a:t>
                      </a: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28,3%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71,7% (Total Penurunan)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15"/>
          <p:cNvSpPr/>
          <p:nvPr/>
        </p:nvSpPr>
        <p:spPr>
          <a:xfrm>
            <a:off x="571500" y="2576512"/>
            <a:ext cx="3598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169717" y="2576512"/>
            <a:ext cx="143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5608885" y="2576512"/>
            <a:ext cx="2995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8604051" y="2576512"/>
            <a:ext cx="301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71500" y="3109912"/>
            <a:ext cx="3598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169717" y="3109912"/>
            <a:ext cx="143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608885" y="3109912"/>
            <a:ext cx="2995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8604051" y="3109912"/>
            <a:ext cx="301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71500" y="3643312"/>
            <a:ext cx="3598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169717" y="3643312"/>
            <a:ext cx="143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608885" y="3643312"/>
            <a:ext cx="2995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8604051" y="3643312"/>
            <a:ext cx="301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71500" y="4176712"/>
            <a:ext cx="3598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169717" y="4176712"/>
            <a:ext cx="143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608885" y="4176712"/>
            <a:ext cx="2995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604051" y="4176712"/>
            <a:ext cx="301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4710112"/>
            <a:ext cx="3598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169717" y="4710112"/>
            <a:ext cx="1439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608885" y="4710112"/>
            <a:ext cx="2995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604051" y="4710112"/>
            <a:ext cx="301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Field yang Digunakan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85850"/>
            <a:ext cx="10835175" cy="50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66775" y="1621037"/>
            <a:ext cx="498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SzPts val="1100"/>
              <a:buNone/>
            </a:pPr>
            <a:r>
              <a:rPr b="1" lang="en-US" sz="1650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Conversion Rate Tiap Tahap</a:t>
            </a:r>
            <a:endParaRPr b="1" sz="1650">
              <a:solidFill>
                <a:srgbClr val="16A3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988" y="2043675"/>
            <a:ext cx="8990019" cy="369098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3195600" y="6366100"/>
            <a:ext cx="58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Calculated Field lebih </a:t>
            </a:r>
            <a:r>
              <a:rPr b="1"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delta</a:t>
            </a:r>
            <a:r>
              <a:rPr b="1"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dan lengkap dapat diakses </a:t>
            </a:r>
            <a:r>
              <a:rPr b="1" lang="en-US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di sini bagian Measure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Education Startup Funnel Dashboard</a:t>
            </a:r>
            <a:endParaRPr b="1" sz="285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571500" y="25765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169717" y="25765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608885" y="25765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604051" y="25765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71500" y="31099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169717" y="31099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608885" y="31099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8604051" y="31099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36433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169717" y="36433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608885" y="36433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604051" y="36433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41767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169717" y="41767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608885" y="41767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8604051" y="41767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47101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169717" y="47101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608885" y="47101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8604051" y="47101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title="Screenshot 2026-08-25 09165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603" y="1030450"/>
            <a:ext cx="10122801" cy="5680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81237"/>
            <a:ext cx="53340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81237"/>
            <a:ext cx="53340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Mengidentifikasi </a:t>
            </a: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Drop-off </a:t>
            </a: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Funnel &amp; Penyebabnya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66775" y="2576512"/>
            <a:ext cx="498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SzPts val="1100"/>
              <a:buNone/>
            </a:pPr>
            <a:r>
              <a:rPr b="1" lang="en-US" sz="1650">
                <a:solidFill>
                  <a:srgbClr val="16A34A"/>
                </a:solidFill>
                <a:latin typeface="Merriweather"/>
                <a:ea typeface="Merriweather"/>
                <a:cs typeface="Merriweather"/>
                <a:sym typeface="Merriweather"/>
              </a:rPr>
              <a:t>Drop-off Point Terbesar</a:t>
            </a:r>
            <a:endParaRPr b="1" sz="1650">
              <a:solidFill>
                <a:srgbClr val="16A3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985275" y="2986087"/>
            <a:ext cx="474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Terjadi pada transisi dari </a:t>
            </a: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Bookings ke Free Trials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, dengan tingkat kehilangan (</a:t>
            </a:r>
            <a:r>
              <a:rPr i="1" lang="en-US" sz="1200">
                <a:latin typeface="DM Sans"/>
                <a:ea typeface="DM Sans"/>
                <a:cs typeface="DM Sans"/>
                <a:sym typeface="DM Sans"/>
              </a:rPr>
              <a:t>drop-off rate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) sebesar </a:t>
            </a: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37,3%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(hanya 62,7% pengguna dari </a:t>
            </a:r>
            <a:r>
              <a:rPr i="1" lang="en-US" sz="1200">
                <a:latin typeface="DM Sans"/>
                <a:ea typeface="DM Sans"/>
                <a:cs typeface="DM Sans"/>
                <a:sym typeface="DM Sans"/>
              </a:rPr>
              <a:t>Bookings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yang melanjutkan ke </a:t>
            </a:r>
            <a:r>
              <a:rPr i="1" lang="en-US" sz="1200">
                <a:latin typeface="DM Sans"/>
                <a:ea typeface="DM Sans"/>
                <a:cs typeface="DM Sans"/>
                <a:sym typeface="DM Sans"/>
              </a:rPr>
              <a:t>Free Trials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).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088225" y="2986075"/>
            <a:ext cx="52371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Kendala Jadwal:</a:t>
            </a:r>
            <a:r>
              <a:rPr lang="en-US" sz="1100">
                <a:solidFill>
                  <a:schemeClr val="dk1"/>
                </a:solidFill>
              </a:rPr>
              <a:t> Bentrok waktu, lupa, atau kehilangan momentum saat sesi uji coba.</a:t>
            </a:r>
            <a:endParaRPr sz="11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Minim Reminder:</a:t>
            </a:r>
            <a:r>
              <a:rPr lang="en-US" sz="1100">
                <a:solidFill>
                  <a:schemeClr val="dk1"/>
                </a:solidFill>
              </a:rPr>
              <a:t> Pengingat (WhatsApp/Email) belum optimal, sehingga kehadiran rendah.</a:t>
            </a:r>
            <a:endParaRPr sz="11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Ekspektasi vs Realita:</a:t>
            </a:r>
            <a:r>
              <a:rPr lang="en-US" sz="1100">
                <a:solidFill>
                  <a:schemeClr val="dk1"/>
                </a:solidFill>
              </a:rPr>
              <a:t> Keraguan calon pengguna/orang tua terhadap materi atau format kelas.</a:t>
            </a:r>
            <a:endParaRPr sz="11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Friction Onboarding:</a:t>
            </a:r>
            <a:r>
              <a:rPr lang="en-US" sz="1100">
                <a:solidFill>
                  <a:schemeClr val="dk1"/>
                </a:solidFill>
              </a:rPr>
              <a:t> Langkah teknis masuk platform </a:t>
            </a:r>
            <a:r>
              <a:rPr i="1" lang="en-US" sz="1100">
                <a:solidFill>
                  <a:schemeClr val="dk1"/>
                </a:solidFill>
              </a:rPr>
              <a:t>Free Trial</a:t>
            </a:r>
            <a:r>
              <a:rPr lang="en-US" sz="1100">
                <a:solidFill>
                  <a:schemeClr val="dk1"/>
                </a:solidFill>
              </a:rPr>
              <a:t> terlalu rumit.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581775" y="2576512"/>
            <a:ext cx="498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Penyebab Utama Drop-off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Recommendations: Funnel Optimization</a:t>
            </a:r>
            <a:endParaRPr b="1" sz="285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904875" y="2624137"/>
            <a:ext cx="10715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Pengingat Otomatis: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Terapkan pengingat multi-saluran (WhatsApp &amp; pemberitahuan push) pada 24 jam dan 1 jam sebelum Uji Coba Gratis untuk mengurangi penurunan 37,3%.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04875" y="3309937"/>
            <a:ext cx="10715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Orientasi Tanpa Gesekan: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Sederhanakan proses bergabung teknis dengan tautan satu klik untuk menghilangkan hambatan tepat sebelum kelas dimulai.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04875" y="3995737"/>
            <a:ext cx="10715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Pratinjau Nilai Interaktif: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Sediakan pratinjau silabus yang menarik selama pemesanan untuk mempertahankan harapan dan niat pengguna yang tinggi.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57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43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0290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5715000" y="2333625"/>
            <a:ext cx="762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95275" y="2562225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SzPts val="1100"/>
              <a:buNone/>
            </a:pPr>
            <a:r>
              <a:rPr b="1" lang="en-US" sz="4200">
                <a:solidFill>
                  <a:srgbClr val="005088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Business Case: Fintech Cohort Analysis</a:t>
            </a:r>
            <a:endParaRPr b="1" sz="42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286000" y="4086225"/>
            <a:ext cx="76653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1500" marR="5715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475569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Measuring Customer Retention &amp; Long-Term Engagement Patterns (2024 Dataset)</a:t>
            </a:r>
            <a:endParaRPr sz="1650">
              <a:solidFill>
                <a:srgbClr val="475569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Cohort Retention Matrix (Month-on-Month)</a:t>
            </a:r>
            <a:endParaRPr b="1" sz="285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71500" y="2309812"/>
            <a:ext cx="15726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2144166" y="2309812"/>
            <a:ext cx="2372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516487" y="23098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945088" y="2309812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7321153" y="2309812"/>
            <a:ext cx="1402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8723560" y="2309812"/>
            <a:ext cx="1415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0139064" y="2309812"/>
            <a:ext cx="1481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2843212"/>
            <a:ext cx="15726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144166" y="2843212"/>
            <a:ext cx="2372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516487" y="28432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945088" y="2843212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321153" y="2843212"/>
            <a:ext cx="1402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723560" y="2843212"/>
            <a:ext cx="1415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10139064" y="2843212"/>
            <a:ext cx="1481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3376612"/>
            <a:ext cx="15726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2144166" y="3376612"/>
            <a:ext cx="2372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516487" y="33766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945088" y="3376612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7321153" y="3376612"/>
            <a:ext cx="1402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8723560" y="3376612"/>
            <a:ext cx="1415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0139064" y="3376612"/>
            <a:ext cx="1481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3910012"/>
            <a:ext cx="15726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144166" y="3910012"/>
            <a:ext cx="2372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516487" y="39100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945088" y="3910012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321153" y="3910012"/>
            <a:ext cx="1402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8723560" y="3910012"/>
            <a:ext cx="1415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10139064" y="3910012"/>
            <a:ext cx="1481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4443412"/>
            <a:ext cx="15726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144166" y="4443412"/>
            <a:ext cx="2372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516487" y="44434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945088" y="4443412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7321153" y="4443412"/>
            <a:ext cx="1402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8723560" y="4443412"/>
            <a:ext cx="1415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0139064" y="4443412"/>
            <a:ext cx="1481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1500" y="4976812"/>
            <a:ext cx="15726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144166" y="4976812"/>
            <a:ext cx="2372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516487" y="49768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945088" y="4976812"/>
            <a:ext cx="137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321153" y="4976812"/>
            <a:ext cx="1402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8723560" y="4976812"/>
            <a:ext cx="1415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0139064" y="4976812"/>
            <a:ext cx="1481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93" y="1263938"/>
            <a:ext cx="11048999" cy="5301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Field yang Digunakan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85850"/>
            <a:ext cx="10835175" cy="50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866775" y="1621037"/>
            <a:ext cx="498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Retention Rate per Cohort</a:t>
            </a:r>
            <a:endParaRPr b="1" sz="1650">
              <a:solidFill>
                <a:srgbClr val="16A3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3195600" y="6366100"/>
            <a:ext cx="58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Calculated Field lebih delta dan lengkap dapat diakses </a:t>
            </a:r>
            <a:r>
              <a:rPr b="1" lang="en-US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di sini bagian Measure</a:t>
            </a:r>
            <a:endParaRPr/>
          </a:p>
        </p:txBody>
      </p:sp>
      <p:pic>
        <p:nvPicPr>
          <p:cNvPr id="240" name="Google Shape;2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1000" y="2183625"/>
            <a:ext cx="8990000" cy="1580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Fintech</a:t>
            </a: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Cohort Dashboard</a:t>
            </a:r>
            <a:endParaRPr b="1" sz="285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25765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169717" y="25765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608885" y="25765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8604051" y="25765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31099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169717" y="31099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608885" y="31099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8604051" y="31099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36433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169717" y="36433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608885" y="36433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8604051" y="36433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71500" y="41767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169717" y="41767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608885" y="41767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604051" y="41767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4710112"/>
            <a:ext cx="3598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169717" y="4710112"/>
            <a:ext cx="1439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608885" y="4710112"/>
            <a:ext cx="299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8604051" y="4710112"/>
            <a:ext cx="30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030" y="998280"/>
            <a:ext cx="10585949" cy="529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62225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75" y="2562225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562225"/>
            <a:ext cx="352425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Cohort Retention Performance Insights</a:t>
            </a:r>
            <a:endParaRPr b="1" sz="285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866775" y="2857500"/>
            <a:ext cx="30803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Stabilitas Jan 2024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866775" y="3267075"/>
            <a:ext cx="293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Mendominasi dengan 115 pengguna dan mempertahankan retensi jangka panjang yang luar biasa sebesar 52,2% pada Bulan ke-11, menunjukkan kecocokan produk-pasar yang kuat di awal tahun.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4629150" y="2857500"/>
            <a:ext cx="308038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Volatilitas Pertengahan Tahun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4629150" y="3533775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Kohort antara Feb-Nov menderita ukuran sampel yang kecil (5-15 pengguna), menciptakan volatilitas statistik yang tinggi dan kurva retensi yang rentan.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391525" y="2857500"/>
            <a:ext cx="30803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Penurunan Des 2024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8391525" y="3267075"/>
            <a:ext cx="293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Retensi bulan-0 awal turun tajam menjadi 37,3% untuk 51 pelanggan baru, mengarah pada gesekan orientasi atau kualitas lalu lintas yang lebih rendah di akhir tahun.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5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Recommendations: Cohort Retention</a:t>
            </a:r>
            <a:endParaRPr b="1" sz="285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904875" y="2752725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Replikasi Kesuksesan Januari: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Pelajari dan skala saluran akuisisi serta loop keterlibatan sukses yang digunakan pada kohort Januari.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904875" y="3181350"/>
            <a:ext cx="10715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Tingkatkan Orientasi Akhir Tahun: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Perbaiki funnel orientasi untuk kohort akhir tahun (misalnya, Desember) guna mendongkrak retensi awal dari 37,3%.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904875" y="3867150"/>
            <a:ext cx="10715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Program Loyalitas Jangka Menengah: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Sebarkan cashback kondisional atau pencapaian hadiah antara Bulan ke-3 hingga ke-6 untuk mencegah penurunan retensi yang tajam.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86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14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004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47925"/>
            <a:ext cx="3524250" cy="331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75" y="2447925"/>
            <a:ext cx="3524250" cy="331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447925"/>
            <a:ext cx="3524250" cy="33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Analisis Refleksi Konsultan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866775" y="2743200"/>
            <a:ext cx="308038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Mengapa Funnel Saja Tidak Cukup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866775" y="3419475"/>
            <a:ext cx="29337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Fokus Jangka Pendek: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Berhenti begitu pengguna berhasil dikonversi (</a:t>
            </a:r>
            <a:r>
              <a:rPr i="1" lang="en-US" sz="1100">
                <a:latin typeface="DM Sans"/>
                <a:ea typeface="DM Sans"/>
                <a:cs typeface="DM Sans"/>
                <a:sym typeface="DM Sans"/>
              </a:rPr>
              <a:t>purchase/registration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).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Abaikan Pasca-Konversi: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Tidak mengukur aktivitas pengguna setelah transaksi pertama.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Tanpa Dimensi Retensi: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Gagal memantau loyalitas dan </a:t>
            </a:r>
            <a:r>
              <a:rPr i="1" lang="en-US" sz="1100">
                <a:latin typeface="DM Sans"/>
                <a:ea typeface="DM Sans"/>
                <a:cs typeface="DM Sans"/>
                <a:sym typeface="DM Sans"/>
              </a:rPr>
              <a:t>Customer Lifetime Value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jangka panjang.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4629150" y="2743200"/>
            <a:ext cx="30803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Nilai Tambah Kohort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4629150" y="3152775"/>
            <a:ext cx="29337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Lacak Perilaku: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Mengukur retensi pengguna dari bulan ke bulan (</a:t>
            </a:r>
            <a:r>
              <a:rPr i="1" lang="en-US" sz="1100">
                <a:latin typeface="DM Sans"/>
                <a:ea typeface="DM Sans"/>
                <a:cs typeface="DM Sans"/>
                <a:sym typeface="DM Sans"/>
              </a:rPr>
              <a:t>month-on-month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).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Evaluasi Akuisisi: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Membedakan pengguna setia vs. pengguna sesaat (</a:t>
            </a:r>
            <a:r>
              <a:rPr i="1" lang="en-US" sz="1100">
                <a:latin typeface="DM Sans"/>
                <a:ea typeface="DM Sans"/>
                <a:cs typeface="DM Sans"/>
                <a:sym typeface="DM Sans"/>
              </a:rPr>
              <a:t>churn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).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Deteksi Tren: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Menilai dampak pembaruan fitur/pemasaran pada loyalitas.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8391525" y="2743200"/>
            <a:ext cx="308038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CVR Tinggi, Retensi Rendah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8391525" y="3152775"/>
            <a:ext cx="29337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Leaky Bucket Syndrome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Sukses mengonversi pengguna di awal, tetapi gagal mempertahankan mereka.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Pemborosan CAC: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Biaya akuisisi terbuang sia-sia karena pengguna pergi sebelum mencapai </a:t>
            </a:r>
            <a:r>
              <a:rPr i="1" lang="en-US" sz="1100">
                <a:latin typeface="DM Sans"/>
                <a:ea typeface="DM Sans"/>
                <a:cs typeface="DM Sans"/>
                <a:sym typeface="DM Sans"/>
              </a:rPr>
              <a:t>LTV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positif.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Pertumbuhan Semu: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Angka pendaftaran terlihat tinggi, tetapi </a:t>
            </a:r>
            <a:r>
              <a:rPr i="1" lang="en-US" sz="1100">
                <a:latin typeface="DM Sans"/>
                <a:ea typeface="DM Sans"/>
                <a:cs typeface="DM Sans"/>
                <a:sym typeface="DM Sans"/>
              </a:rPr>
              <a:t>churn rate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merusak pertumbuhan jangka panjang.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